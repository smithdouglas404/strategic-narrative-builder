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4"/>
  </p:sldMasterIdLst>
  <p:notesMasterIdLst>
    <p:notesMasterId r:id="rId12"/>
  </p:notesMasterIdLst>
  <p:sldIdLst>
    <p:sldId id="256" r:id="rId11"/>
    <p:sldId id="257" r:id="rId10"/>
    <p:sldId id="258" r:id="rId9"/>
    <p:sldId id="259" r:id="rId8"/>
    <p:sldId id="260" r:id="rId7"/>
    <p:sldId id="261" r:id="rId6"/>
    <p:sldId id="262" r:id="rId5"/>
  </p:sldIdLst>
  <p:sldSz cx="12191695" cy="6858000"/>
  <p:notesSz cx="6888163" cy="10020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7FB4836-7015-1545-AE62-E2354BF1729C}">
          <p14:sldIdLst>
            <p14:sldId id="271"/>
            <p14:sldId id="2147483621"/>
            <p14:sldId id="257"/>
            <p14:sldId id="261"/>
            <p14:sldId id="2147483638"/>
            <p14:sldId id="2147483632"/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366" userDrawn="1">
          <p15:clr>
            <a:srgbClr val="A4A3A4"/>
          </p15:clr>
        </p15:guide>
        <p15:guide id="2" orient="horz" pos="2546" userDrawn="1">
          <p15:clr>
            <a:srgbClr val="A4A3A4"/>
          </p15:clr>
        </p15:guide>
        <p15:guide id="3" orient="horz" pos="3888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F703D0E-CAC1-AC68-F461-E52890E09B84}" name="Chris Colesell" initials="CC" userId="S::chris.colesell@kyndryl.com::71473fb5-0c3a-4b15-b71a-649455dc867a" providerId="AD"/>
  <p188:author id="{4CCC830F-4672-3864-85AB-B8D484B177E3}" name="Leena Biant" initials="LB" userId="S::leena.biant@kyndryl.com::a47acec2-4598-4646-a4c7-d172a3c2c38e" providerId="AD"/>
  <p188:author id="{E2FFD010-2B8C-9707-BD0F-0CC4ECA0BBD0}" name="Alex Yim" initials="AY" userId="S::alex.yim@kyndryl.com::2d109dc0-61c2-4517-b028-87bc822db46c" providerId="AD"/>
  <p188:author id="{66E2EC22-CDB3-0A10-3B13-2D8A8634CA0F}" name="Muneeb Ahsan" initials="MA" userId="S::muneeb.ahsan@kyndryl.com::559ed541-c98c-4777-856b-e814f7a5e5d4" providerId="AD"/>
  <p188:author id="{23F12B27-5036-C1AC-E224-6D266B87C903}" name="Corey Tabiner" initials="CT" userId="S::corey.tabiner@kyndryl.com::3c057b6b-1ac9-4afc-bc0d-29b2dcda5e55" providerId="AD"/>
  <p188:author id="{79C47036-7932-A6E0-9C32-25079049267F}" name="Adam Bray" initials="AB" userId="S::Adam.Bray@kyndryl.com::416abfee-94ee-40ba-8f0d-c199ed0b871d" providerId="AD"/>
  <p188:author id="{784F9C40-AEC7-9D88-799D-8CA43C9361AD}" name="Bethan Doughty Johnson" initials="BD" userId="S::bethan.doughtyjohnson@kyndryl.com::83edb758-d4e7-47d1-8574-e9ba31f14b4c" providerId="AD"/>
  <p188:author id="{715DCC46-1562-CD19-445D-201A5D7AFF90}" name="Josh Nokes" initials="JN" userId="S::josh.nokes@kyndryl.com::ccd2154c-f559-401a-a6ac-cdbb7e78c66e" providerId="AD"/>
  <p188:author id="{F257E14F-29E0-02B9-CE67-F75D779C3CB4}" name="Nikita Bansal" initials="NB" userId="S::Nikita.Bansal@kyndryl.com::5e711987-e98c-4c27-a23e-68d40b30836a" providerId="AD"/>
  <p188:author id="{0150A759-28CC-94A5-8A8C-F9436AA61A4D}" name="Katy Hilborne Wallace" initials="KH" userId="S::Katy.Hilborne.Wallace@kyndryl.com::0166637b-7e7d-4661-b798-1dfee4e646fa" providerId="AD"/>
  <p188:author id="{27743C7D-FEBE-1D29-CEAE-3B0413D16896}" name="Isolde Kanikani" initials="IK" userId="S::isolde.kanikani@kyndryl.com::d0fd5081-33b6-4793-924e-fb68ff29abe3" providerId="AD"/>
  <p188:author id="{A81EF09E-EAA3-D85D-22F7-62ACDD2147DC}" name="Benjamin Smith" initials="BS" userId="S::Benjamin.Smith@kyndryl.com::00acd557-9e35-4aa9-98b0-68a8fee16caf" providerId="AD"/>
  <p188:author id="{ABB93BB3-73ED-02EA-9673-75A8AC2E98B2}" name="Lydia Duro-Emanuel" initials="LD" userId="S::lydia.duro-emanuel@kyndryl.com::e1bfcb4a-4d8e-4a90-b60e-10cf370cc7f6" providerId="AD"/>
  <p188:author id="{D1C20DC3-7D7D-058F-6758-0D2BEDE6B571}" name="Samir Kumar RamCharitra Singh" initials="SS" userId="S::samir.kumar.singh@kyndryl.com::199a2b0f-7410-43a2-b0d9-c273c8e736a4" providerId="AD"/>
  <p188:author id="{25C1B3C7-5D00-54AF-6F68-1E5AFA3E3980}" name="JASMINE KAUR" initials="JK" userId="S::jasmine.kaur@kyndryl.com::dccac579-6d8a-46a0-827f-65e71413b7e8" providerId="AD"/>
  <p188:author id="{CA6511D4-9C30-3128-1545-7905343B4716}" name="Kareem Yehia" initials="KY" userId="S::kareem.yehia@kyndryl.com::479fd56a-f29e-4748-b09e-b54605c0b6e1" providerId="AD"/>
  <p188:author id="{4ED030FF-0312-AD8D-AFC2-73A51E72E01B}" name="Oscar Hamilton" initials="OH" userId="S::oscar.hamilton@kyndryl.com::2ea105fc-08dd-4974-ab17-fdf83e6b505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evete, Danielle" initials="PD" lastIdx="1" clrIdx="0">
    <p:extLst>
      <p:ext uri="{19B8F6BF-5375-455C-9EA6-DF929625EA0E}">
        <p15:presenceInfo xmlns:p15="http://schemas.microsoft.com/office/powerpoint/2012/main" userId="S::danielle.prevete@landorandfitch.com::ea741048-338b-4cc5-acdc-1e3087087a08" providerId="AD"/>
      </p:ext>
    </p:extLst>
  </p:cmAuthor>
  <p:cmAuthor id="2" name="Grace Jung" initials="GJ" lastIdx="3" clrIdx="1">
    <p:extLst>
      <p:ext uri="{19B8F6BF-5375-455C-9EA6-DF929625EA0E}">
        <p15:presenceInfo xmlns:p15="http://schemas.microsoft.com/office/powerpoint/2012/main" userId="S::grace.jung@landorandfitch.com::97d4d1cb-889a-4aa0-8ca0-500bfccc135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BFBFBF"/>
    <a:srgbClr val="030050"/>
    <a:srgbClr val="E4F4F1"/>
    <a:srgbClr val="03004F"/>
    <a:srgbClr val="E4F4F2"/>
    <a:srgbClr val="CDD8D3"/>
    <a:srgbClr val="AFCBCB"/>
    <a:srgbClr val="203F37"/>
    <a:srgbClr val="CFDA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>
        <p:guide orient="horz" pos="1366"/>
        <p:guide orient="horz" pos="2546"/>
        <p:guide orient="horz" pos="38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neeb Ahsan" userId="559ed541-c98c-4777-856b-e814f7a5e5d4" providerId="ADAL" clId="{387600CF-9371-4F16-8BF5-18225680AE0F}"/>
    <pc:docChg chg="undo redo custSel addSld delSld modSld modMainMaster modSection">
      <pc:chgData name="Muneeb Ahsan" userId="559ed541-c98c-4777-856b-e814f7a5e5d4" providerId="ADAL" clId="{387600CF-9371-4F16-8BF5-18225680AE0F}" dt="2026-08-03T12:12:52.047" v="381" actId="20577"/>
      <pc:docMkLst>
        <pc:docMk/>
      </pc:docMkLst>
      <pc:sldChg chg="modSp mod">
        <pc:chgData name="Muneeb Ahsan" userId="559ed541-c98c-4777-856b-e814f7a5e5d4" providerId="ADAL" clId="{387600CF-9371-4F16-8BF5-18225680AE0F}" dt="2026-07-29T11:25:16.142" v="367" actId="20577"/>
        <pc:sldMkLst>
          <pc:docMk/>
          <pc:sldMk cId="3214355230" sldId="256"/>
        </pc:sldMkLst>
        <pc:spChg chg="mod">
          <ac:chgData name="Muneeb Ahsan" userId="559ed541-c98c-4777-856b-e814f7a5e5d4" providerId="ADAL" clId="{387600CF-9371-4F16-8BF5-18225680AE0F}" dt="2026-07-29T11:25:16.142" v="367" actId="20577"/>
          <ac:spMkLst>
            <pc:docMk/>
            <pc:sldMk cId="3214355230" sldId="256"/>
            <ac:spMk id="2" creationId="{54BE7E25-B372-F362-D588-AA6C88F5EEEC}"/>
          </ac:spMkLst>
        </pc:spChg>
      </pc:sldChg>
      <pc:sldChg chg="delSp modSp add mod">
        <pc:chgData name="Muneeb Ahsan" userId="559ed541-c98c-4777-856b-e814f7a5e5d4" providerId="ADAL" clId="{387600CF-9371-4F16-8BF5-18225680AE0F}" dt="2026-07-29T10:25:06.894" v="269" actId="478"/>
        <pc:sldMkLst>
          <pc:docMk/>
          <pc:sldMk cId="4051618101" sldId="257"/>
        </pc:sldMkLst>
        <pc:spChg chg="mod">
          <ac:chgData name="Muneeb Ahsan" userId="559ed541-c98c-4777-856b-e814f7a5e5d4" providerId="ADAL" clId="{387600CF-9371-4F16-8BF5-18225680AE0F}" dt="2026-07-29T10:25:03.242" v="268" actId="20577"/>
          <ac:spMkLst>
            <pc:docMk/>
            <pc:sldMk cId="4051618101" sldId="257"/>
            <ac:spMk id="3" creationId="{A681818B-E534-345D-9C95-91D9ECED07CB}"/>
          </ac:spMkLst>
        </pc:spChg>
      </pc:sldChg>
      <pc:sldChg chg="modSp add mod">
        <pc:chgData name="Muneeb Ahsan" userId="559ed541-c98c-4777-856b-e814f7a5e5d4" providerId="ADAL" clId="{387600CF-9371-4F16-8BF5-18225680AE0F}" dt="2026-07-29T10:27:21.282" v="344" actId="20577"/>
        <pc:sldMkLst>
          <pc:docMk/>
          <pc:sldMk cId="137750929" sldId="261"/>
        </pc:sldMkLst>
        <pc:spChg chg="mod">
          <ac:chgData name="Muneeb Ahsan" userId="559ed541-c98c-4777-856b-e814f7a5e5d4" providerId="ADAL" clId="{387600CF-9371-4F16-8BF5-18225680AE0F}" dt="2026-07-29T10:27:21.282" v="344" actId="20577"/>
          <ac:spMkLst>
            <pc:docMk/>
            <pc:sldMk cId="137750929" sldId="261"/>
            <ac:spMk id="3" creationId="{94A3FD35-F0EE-C9E5-34AA-AB21E9360B43}"/>
          </ac:spMkLst>
        </pc:spChg>
      </pc:sldChg>
      <pc:sldChg chg="delSp modSp mod">
        <pc:chgData name="Muneeb Ahsan" userId="559ed541-c98c-4777-856b-e814f7a5e5d4" providerId="ADAL" clId="{387600CF-9371-4F16-8BF5-18225680AE0F}" dt="2026-08-03T12:12:52.047" v="381" actId="20577"/>
        <pc:sldMkLst>
          <pc:docMk/>
          <pc:sldMk cId="3210641714" sldId="271"/>
        </pc:sldMkLst>
        <pc:spChg chg="mod">
          <ac:chgData name="Muneeb Ahsan" userId="559ed541-c98c-4777-856b-e814f7a5e5d4" providerId="ADAL" clId="{387600CF-9371-4F16-8BF5-18225680AE0F}" dt="2026-08-03T12:12:52.047" v="381" actId="20577"/>
          <ac:spMkLst>
            <pc:docMk/>
            <pc:sldMk cId="3210641714" sldId="271"/>
            <ac:spMk id="48" creationId="{3AECA666-1E71-8BF3-241E-CE8067392335}"/>
          </ac:spMkLst>
        </pc:spChg>
        <pc:spChg chg="mod">
          <ac:chgData name="Muneeb Ahsan" userId="559ed541-c98c-4777-856b-e814f7a5e5d4" providerId="ADAL" clId="{387600CF-9371-4F16-8BF5-18225680AE0F}" dt="2026-07-29T10:18:18.689" v="67" actId="20577"/>
          <ac:spMkLst>
            <pc:docMk/>
            <pc:sldMk cId="3210641714" sldId="271"/>
            <ac:spMk id="56" creationId="{F0ABD2AD-6857-B56D-8106-053E9BA94092}"/>
          </ac:spMkLst>
        </pc:spChg>
      </pc:sldChg>
      <pc:sldChg chg="delSp modSp mod">
        <pc:chgData name="Muneeb Ahsan" userId="559ed541-c98c-4777-856b-e814f7a5e5d4" providerId="ADAL" clId="{387600CF-9371-4F16-8BF5-18225680AE0F}" dt="2026-07-29T11:24:10.278" v="347" actId="478"/>
        <pc:sldMkLst>
          <pc:docMk/>
          <pc:sldMk cId="1627486354" sldId="2147483621"/>
        </pc:sldMkLst>
        <pc:spChg chg="mod">
          <ac:chgData name="Muneeb Ahsan" userId="559ed541-c98c-4777-856b-e814f7a5e5d4" providerId="ADAL" clId="{387600CF-9371-4F16-8BF5-18225680AE0F}" dt="2026-07-29T10:24:37.038" v="183" actId="20577"/>
          <ac:spMkLst>
            <pc:docMk/>
            <pc:sldMk cId="1627486354" sldId="2147483621"/>
            <ac:spMk id="3" creationId="{F031EF75-47B7-293A-83CA-B450CFC0252A}"/>
          </ac:spMkLst>
        </pc:spChg>
      </pc:sldChg>
      <pc:sldMasterChg chg="modSldLayout">
        <pc:chgData name="Muneeb Ahsan" userId="559ed541-c98c-4777-856b-e814f7a5e5d4" providerId="ADAL" clId="{387600CF-9371-4F16-8BF5-18225680AE0F}" dt="2026-07-29T11:24:20.611" v="356" actId="20577"/>
        <pc:sldMasterMkLst>
          <pc:docMk/>
          <pc:sldMasterMk cId="2458327591" sldId="2147483762"/>
        </pc:sldMasterMkLst>
        <pc:sldLayoutChg chg="addSp delSp modSp mod">
          <pc:chgData name="Muneeb Ahsan" userId="559ed541-c98c-4777-856b-e814f7a5e5d4" providerId="ADAL" clId="{387600CF-9371-4F16-8BF5-18225680AE0F}" dt="2026-07-29T11:24:20.611" v="356" actId="20577"/>
          <pc:sldLayoutMkLst>
            <pc:docMk/>
            <pc:sldMasterMk cId="2458327591" sldId="2147483762"/>
            <pc:sldLayoutMk cId="3491884994" sldId="2147483935"/>
          </pc:sldLayoutMkLst>
          <pc:spChg chg="mod">
            <ac:chgData name="Muneeb Ahsan" userId="559ed541-c98c-4777-856b-e814f7a5e5d4" providerId="ADAL" clId="{387600CF-9371-4F16-8BF5-18225680AE0F}" dt="2026-07-29T11:24:20.611" v="356" actId="20577"/>
            <ac:spMkLst>
              <pc:docMk/>
              <pc:sldMasterMk cId="2458327591" sldId="2147483762"/>
              <pc:sldLayoutMk cId="3491884994" sldId="2147483935"/>
              <ac:spMk id="15" creationId="{ED34079A-18BD-E3C9-336B-A7E2803E62D2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4441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emf"/><Relationship Id="rId4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emf"/><Relationship Id="rId3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PP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20B1C6E-3843-1CA5-322F-DDC6C5432B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1776" y="266768"/>
            <a:ext cx="4165600" cy="171729"/>
          </a:xfr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buNone/>
              <a:defRPr lang="en-GB" sz="1050" dirty="0" smtClean="0">
                <a:solidFill>
                  <a:schemeClr val="tx1"/>
                </a:solidFill>
                <a:latin typeface="TWK Everett Medium" panose="020B0204000000000000" pitchFamily="34" charset="77"/>
              </a:defRPr>
            </a:lvl1pPr>
            <a:lvl2pPr>
              <a:buNone/>
              <a:defRPr/>
            </a:lvl2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0E14A74-ECCD-9E55-B849-9C45BE657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35" y="672601"/>
            <a:ext cx="11734800" cy="382412"/>
          </a:xfrm>
        </p:spPr>
        <p:txBody>
          <a:bodyPr/>
          <a:lstStyle>
            <a:lvl1pPr>
              <a:defRPr sz="2800" b="0" i="0">
                <a:solidFill>
                  <a:schemeClr val="tx1"/>
                </a:solidFill>
                <a:latin typeface="TWK Everett Medium" panose="020B0204000000000000" pitchFamily="34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5002E8-358E-9544-6BE4-629CF8EC7BC7}"/>
              </a:ext>
            </a:extLst>
          </p:cNvPr>
          <p:cNvCxnSpPr>
            <a:cxnSpLocks/>
          </p:cNvCxnSpPr>
          <p:nvPr userDrawn="1"/>
        </p:nvCxnSpPr>
        <p:spPr>
          <a:xfrm flipH="1">
            <a:off x="231776" y="501907"/>
            <a:ext cx="555302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2C1216B8-7FBE-0031-41FE-B7D37D7294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30802"/>
            <a:ext cx="723467" cy="227941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BB68C4C-9C15-43AA-E6CD-F05032D5B6DA}"/>
              </a:ext>
            </a:extLst>
          </p:cNvPr>
          <p:cNvSpPr txBox="1">
            <a:spLocks/>
          </p:cNvSpPr>
          <p:nvPr userDrawn="1"/>
        </p:nvSpPr>
        <p:spPr>
          <a:xfrm>
            <a:off x="11714480" y="6387530"/>
            <a:ext cx="257355" cy="145822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900" b="0" i="0" kern="1200">
                <a:solidFill>
                  <a:schemeClr val="bg1">
                    <a:lumMod val="50000"/>
                  </a:schemeClr>
                </a:solidFill>
                <a:latin typeface="TWK Everett" panose="020B0204000000000000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55D76A-9B6E-CD41-ABBE-F6C938295BAD}" type="slidenum">
              <a:rPr lang="en-GB" noProof="0" smtClean="0">
                <a:solidFill>
                  <a:schemeClr val="tx1"/>
                </a:solidFill>
              </a:rPr>
              <a:pPr/>
              <a:t>‹#›</a:t>
            </a:fld>
            <a:endParaRPr lang="en-GB" noProof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34079A-18BD-E3C9-336B-A7E2803E62D2}"/>
              </a:ext>
            </a:extLst>
          </p:cNvPr>
          <p:cNvSpPr txBox="1"/>
          <p:nvPr userDrawn="1"/>
        </p:nvSpPr>
        <p:spPr>
          <a:xfrm>
            <a:off x="9390144" y="6387530"/>
            <a:ext cx="2285883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GB" sz="900" b="0" i="0" noProof="0" dirty="0">
                <a:solidFill>
                  <a:schemeClr val="tx1"/>
                </a:solidFill>
                <a:latin typeface="TWK Everett" panose="020B0204000000000000" pitchFamily="34" charset="77"/>
              </a:rPr>
              <a:t>Kyndryl &amp; COMPANY Confidential       </a:t>
            </a:r>
            <a:r>
              <a:rPr lang="en-GB" sz="1050" b="0" i="0" noProof="0" dirty="0">
                <a:solidFill>
                  <a:srgbClr val="FF462D"/>
                </a:solidFill>
                <a:latin typeface="TWK Everett" panose="020B0204000000000000" pitchFamily="34" charset="77"/>
              </a:rPr>
              <a:t>|</a:t>
            </a:r>
            <a:r>
              <a:rPr lang="en-GB" sz="900" b="0" i="0" noProof="0" dirty="0">
                <a:solidFill>
                  <a:srgbClr val="FF462D"/>
                </a:solidFill>
                <a:latin typeface="TWK Everett" panose="020B0204000000000000" pitchFamily="34" charset="77"/>
              </a:rPr>
              <a:t>    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A189C393-FBF7-0DE6-7FCD-494E915109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1776" y="1139841"/>
            <a:ext cx="11734800" cy="472966"/>
          </a:xfrm>
          <a:noFill/>
        </p:spPr>
        <p:txBody>
          <a:bodyPr vert="horz" lIns="0" tIns="0" rIns="0" bIns="0" rtlCol="0" anchor="t" anchorCtr="0">
            <a:noAutofit/>
          </a:bodyPr>
          <a:lstStyle>
            <a:lvl1pPr indent="0">
              <a:buNone/>
              <a:defRPr lang="en-GB" sz="1600" b="0" i="0" dirty="0" smtClean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  <a:lvl2pPr>
              <a:buNone/>
              <a:defRPr/>
            </a:lvl2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91884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PP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4AF3FA-226A-5DC6-41E7-7FC74A0F352F}"/>
              </a:ext>
            </a:extLst>
          </p:cNvPr>
          <p:cNvSpPr/>
          <p:nvPr userDrawn="1"/>
        </p:nvSpPr>
        <p:spPr>
          <a:xfrm>
            <a:off x="0" y="0"/>
            <a:ext cx="3048000" cy="6858000"/>
          </a:xfrm>
          <a:prstGeom prst="rect">
            <a:avLst/>
          </a:prstGeom>
          <a:solidFill>
            <a:srgbClr val="F2F1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20B1C6E-3843-1CA5-322F-DDC6C5432B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1776" y="266768"/>
            <a:ext cx="2585341" cy="235102"/>
          </a:xfr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buNone/>
              <a:defRPr lang="en-GB" sz="1050" dirty="0" smtClean="0">
                <a:solidFill>
                  <a:schemeClr val="tx1"/>
                </a:solidFill>
                <a:latin typeface="TWK Everett Medium" panose="020B0204000000000000" pitchFamily="34" charset="77"/>
              </a:defRPr>
            </a:lvl1pPr>
            <a:lvl2pPr>
              <a:buNone/>
              <a:defRPr/>
            </a:lvl2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0E14A74-ECCD-9E55-B849-9C45BE657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35" y="672600"/>
            <a:ext cx="2585341" cy="1600698"/>
          </a:xfrm>
        </p:spPr>
        <p:txBody>
          <a:bodyPr/>
          <a:lstStyle>
            <a:lvl1pPr>
              <a:defRPr sz="2800" b="0" i="0">
                <a:solidFill>
                  <a:schemeClr val="tx1"/>
                </a:solidFill>
                <a:latin typeface="TWK Everett Medium" panose="020B0204000000000000" pitchFamily="34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5002E8-358E-9544-6BE4-629CF8EC7BC7}"/>
              </a:ext>
            </a:extLst>
          </p:cNvPr>
          <p:cNvCxnSpPr>
            <a:cxnSpLocks/>
          </p:cNvCxnSpPr>
          <p:nvPr userDrawn="1"/>
        </p:nvCxnSpPr>
        <p:spPr>
          <a:xfrm flipH="1">
            <a:off x="231776" y="501907"/>
            <a:ext cx="555302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2C1216B8-7FBE-0031-41FE-B7D37D7294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30802"/>
            <a:ext cx="723467" cy="227941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A48FFC6F-2A98-CD06-F6CD-3166BEC9908F}"/>
              </a:ext>
            </a:extLst>
          </p:cNvPr>
          <p:cNvSpPr/>
          <p:nvPr userDrawn="1"/>
        </p:nvSpPr>
        <p:spPr>
          <a:xfrm>
            <a:off x="1110004" y="6358909"/>
            <a:ext cx="60524" cy="171729"/>
          </a:xfrm>
          <a:custGeom>
            <a:avLst/>
            <a:gdLst>
              <a:gd name="connsiteX0" fmla="*/ 9367 w 138323"/>
              <a:gd name="connsiteY0" fmla="*/ 392475 h 392475"/>
              <a:gd name="connsiteX1" fmla="*/ 138324 w 138323"/>
              <a:gd name="connsiteY1" fmla="*/ 0 h 392475"/>
              <a:gd name="connsiteX2" fmla="*/ 129066 w 138323"/>
              <a:gd name="connsiteY2" fmla="*/ 0 h 392475"/>
              <a:gd name="connsiteX3" fmla="*/ 0 w 138323"/>
              <a:gd name="connsiteY3" fmla="*/ 392475 h 392475"/>
              <a:gd name="connsiteX4" fmla="*/ 9367 w 138323"/>
              <a:gd name="connsiteY4" fmla="*/ 392475 h 39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323" h="392475">
                <a:moveTo>
                  <a:pt x="9367" y="392475"/>
                </a:moveTo>
                <a:lnTo>
                  <a:pt x="138324" y="0"/>
                </a:lnTo>
                <a:lnTo>
                  <a:pt x="129066" y="0"/>
                </a:lnTo>
                <a:lnTo>
                  <a:pt x="0" y="392475"/>
                </a:lnTo>
                <a:lnTo>
                  <a:pt x="9367" y="392475"/>
                </a:lnTo>
                <a:close/>
              </a:path>
            </a:pathLst>
          </a:custGeom>
          <a:solidFill>
            <a:srgbClr val="3D3C3C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125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BB68C4C-9C15-43AA-E6CD-F05032D5B6DA}"/>
              </a:ext>
            </a:extLst>
          </p:cNvPr>
          <p:cNvSpPr txBox="1">
            <a:spLocks/>
          </p:cNvSpPr>
          <p:nvPr userDrawn="1"/>
        </p:nvSpPr>
        <p:spPr>
          <a:xfrm>
            <a:off x="11714480" y="6387530"/>
            <a:ext cx="257355" cy="145822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900" b="0" i="0" kern="1200">
                <a:solidFill>
                  <a:schemeClr val="bg1">
                    <a:lumMod val="50000"/>
                  </a:schemeClr>
                </a:solidFill>
                <a:latin typeface="TWK Everett" panose="020B0204000000000000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55D76A-9B6E-CD41-ABBE-F6C938295BAD}" type="slidenum">
              <a:rPr lang="en-GB" noProof="0" smtClean="0">
                <a:solidFill>
                  <a:schemeClr val="tx1"/>
                </a:solidFill>
              </a:rPr>
              <a:pPr/>
              <a:t>‹#›</a:t>
            </a:fld>
            <a:endParaRPr lang="en-GB" noProof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34079A-18BD-E3C9-336B-A7E2803E62D2}"/>
              </a:ext>
            </a:extLst>
          </p:cNvPr>
          <p:cNvSpPr txBox="1"/>
          <p:nvPr userDrawn="1"/>
        </p:nvSpPr>
        <p:spPr>
          <a:xfrm>
            <a:off x="9749216" y="6387530"/>
            <a:ext cx="1926811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GB" sz="900" b="0" i="0" noProof="0">
                <a:solidFill>
                  <a:schemeClr val="tx1"/>
                </a:solidFill>
                <a:latin typeface="TWK Everett" panose="020B0204000000000000" pitchFamily="34" charset="77"/>
              </a:rPr>
              <a:t>Kyndryl &amp; WPP Confidential       </a:t>
            </a:r>
            <a:r>
              <a:rPr lang="en-GB" sz="1050" b="0" i="0" noProof="0">
                <a:solidFill>
                  <a:srgbClr val="FF462D"/>
                </a:solidFill>
                <a:latin typeface="TWK Everett" panose="020B0204000000000000" pitchFamily="34" charset="77"/>
              </a:rPr>
              <a:t>|</a:t>
            </a:r>
            <a:r>
              <a:rPr lang="en-GB" sz="900" b="0" i="0" noProof="0">
                <a:solidFill>
                  <a:srgbClr val="FF462D"/>
                </a:solidFill>
                <a:latin typeface="TWK Everett" panose="020B0204000000000000" pitchFamily="34" charset="77"/>
              </a:rPr>
              <a:t>   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D355DF5-52F4-A12B-3CC1-B86CED8715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23666" y="6336743"/>
            <a:ext cx="519312" cy="17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59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B9055CB-6CA5-2D49-B09E-1EA176EAB5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4040" y="1877234"/>
            <a:ext cx="8919959" cy="35198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rgbClr val="3D3C3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2pPr>
            <a:lvl3pPr marL="914400" indent="0">
              <a:buNone/>
              <a:defRPr sz="1400">
                <a:solidFill>
                  <a:schemeClr val="tx2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3pPr>
            <a:lvl4pPr marL="1371600" indent="0">
              <a:buNone/>
              <a:defRPr sz="1200">
                <a:solidFill>
                  <a:schemeClr val="tx2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4pPr>
            <a:lvl5pPr marL="1828800" indent="0">
              <a:buNone/>
              <a:defRPr sz="1200">
                <a:solidFill>
                  <a:schemeClr val="tx2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Add body text here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EF1E4B41-BB92-7648-895C-DEDFFB103A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600" y="1547793"/>
            <a:ext cx="8915400" cy="26909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 spc="0">
                <a:solidFill>
                  <a:srgbClr val="FF46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  <a:endParaRPr lang="en-MX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8062FC2-ABE4-C34F-8AFD-7A1011E7D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84499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6" name="Text Placeholder 57">
            <a:extLst>
              <a:ext uri="{FF2B5EF4-FFF2-40B4-BE49-F238E27FC236}">
                <a16:creationId xmlns:a16="http://schemas.microsoft.com/office/drawing/2014/main" id="{289E4EDC-BD74-4448-ADE2-7D000BA8CB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B562F7-EB7C-D492-782B-53D6ED0E86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30802"/>
            <a:ext cx="723467" cy="227941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EC45F1D1-8A6F-4D72-B935-035D0B486E7D}"/>
              </a:ext>
            </a:extLst>
          </p:cNvPr>
          <p:cNvSpPr/>
          <p:nvPr userDrawn="1"/>
        </p:nvSpPr>
        <p:spPr>
          <a:xfrm>
            <a:off x="1110004" y="6358909"/>
            <a:ext cx="60524" cy="171729"/>
          </a:xfrm>
          <a:custGeom>
            <a:avLst/>
            <a:gdLst>
              <a:gd name="connsiteX0" fmla="*/ 9367 w 138323"/>
              <a:gd name="connsiteY0" fmla="*/ 392475 h 392475"/>
              <a:gd name="connsiteX1" fmla="*/ 138324 w 138323"/>
              <a:gd name="connsiteY1" fmla="*/ 0 h 392475"/>
              <a:gd name="connsiteX2" fmla="*/ 129066 w 138323"/>
              <a:gd name="connsiteY2" fmla="*/ 0 h 392475"/>
              <a:gd name="connsiteX3" fmla="*/ 0 w 138323"/>
              <a:gd name="connsiteY3" fmla="*/ 392475 h 392475"/>
              <a:gd name="connsiteX4" fmla="*/ 9367 w 138323"/>
              <a:gd name="connsiteY4" fmla="*/ 392475 h 39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323" h="392475">
                <a:moveTo>
                  <a:pt x="9367" y="392475"/>
                </a:moveTo>
                <a:lnTo>
                  <a:pt x="138324" y="0"/>
                </a:lnTo>
                <a:lnTo>
                  <a:pt x="129066" y="0"/>
                </a:lnTo>
                <a:lnTo>
                  <a:pt x="0" y="392475"/>
                </a:lnTo>
                <a:lnTo>
                  <a:pt x="9367" y="392475"/>
                </a:lnTo>
                <a:close/>
              </a:path>
            </a:pathLst>
          </a:custGeom>
          <a:solidFill>
            <a:srgbClr val="3D3C3C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125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4106ABB-00EF-A3B0-A881-09EB82D0FF20}"/>
              </a:ext>
            </a:extLst>
          </p:cNvPr>
          <p:cNvSpPr txBox="1">
            <a:spLocks/>
          </p:cNvSpPr>
          <p:nvPr userDrawn="1"/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900" b="0" i="0" kern="1200">
                <a:solidFill>
                  <a:schemeClr val="bg1">
                    <a:lumMod val="50000"/>
                  </a:schemeClr>
                </a:solidFill>
                <a:latin typeface="TWK Everett" panose="020B0204000000000000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55D76A-9B6E-CD41-ABBE-F6C938295BAD}" type="slidenum">
              <a:rPr lang="en-GB" noProof="0" smtClean="0">
                <a:solidFill>
                  <a:schemeClr val="tx1"/>
                </a:solidFill>
              </a:rPr>
              <a:pPr/>
              <a:t>‹#›</a:t>
            </a:fld>
            <a:endParaRPr lang="en-GB" noProof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2D201D-31C4-C81A-0FA8-F3636A44BB1D}"/>
              </a:ext>
            </a:extLst>
          </p:cNvPr>
          <p:cNvSpPr txBox="1"/>
          <p:nvPr userDrawn="1"/>
        </p:nvSpPr>
        <p:spPr>
          <a:xfrm>
            <a:off x="9749216" y="6387530"/>
            <a:ext cx="1926811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GB" sz="900" b="0" i="0" noProof="0">
                <a:solidFill>
                  <a:schemeClr val="tx1"/>
                </a:solidFill>
                <a:latin typeface="TWK Everett" panose="020B0204000000000000" pitchFamily="34" charset="77"/>
              </a:rPr>
              <a:t>Kyndryl &amp; WPP Confidential       </a:t>
            </a:r>
            <a:r>
              <a:rPr lang="en-GB" sz="1050" b="0" i="0" noProof="0">
                <a:solidFill>
                  <a:srgbClr val="FF462D"/>
                </a:solidFill>
                <a:latin typeface="TWK Everett" panose="020B0204000000000000" pitchFamily="34" charset="77"/>
              </a:rPr>
              <a:t>|</a:t>
            </a:r>
            <a:r>
              <a:rPr lang="en-GB" sz="900" b="0" i="0" noProof="0">
                <a:solidFill>
                  <a:srgbClr val="FF462D"/>
                </a:solidFill>
                <a:latin typeface="TWK Everett" panose="020B0204000000000000" pitchFamily="34" charset="77"/>
              </a:rPr>
              <a:t>  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45184D-6CC8-1DCC-2F24-B22BD4FE82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23666" y="6336743"/>
            <a:ext cx="519312" cy="17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856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cloud with red slim trellis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3025140"/>
            <a:ext cx="5867400" cy="23621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121BAE-A4D8-B505-11EE-0A79783EE8CE}"/>
              </a:ext>
            </a:extLst>
          </p:cNvPr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2926" y="-9814"/>
            <a:ext cx="4227443" cy="68810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6B366BA-2394-5097-3FF8-E229C7A586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0" y="6330802"/>
            <a:ext cx="723467" cy="227941"/>
          </a:xfrm>
          <a:prstGeom prst="rect">
            <a:avLst/>
          </a:prstGeom>
        </p:spPr>
      </p:pic>
      <p:sp>
        <p:nvSpPr>
          <p:cNvPr id="5" name="Freeform 3">
            <a:extLst>
              <a:ext uri="{FF2B5EF4-FFF2-40B4-BE49-F238E27FC236}">
                <a16:creationId xmlns:a16="http://schemas.microsoft.com/office/drawing/2014/main" id="{29595934-56D2-8038-0F17-EA22085F1AAD}"/>
              </a:ext>
            </a:extLst>
          </p:cNvPr>
          <p:cNvSpPr/>
          <p:nvPr userDrawn="1"/>
        </p:nvSpPr>
        <p:spPr>
          <a:xfrm>
            <a:off x="1110004" y="6358909"/>
            <a:ext cx="60524" cy="171729"/>
          </a:xfrm>
          <a:custGeom>
            <a:avLst/>
            <a:gdLst>
              <a:gd name="connsiteX0" fmla="*/ 9367 w 138323"/>
              <a:gd name="connsiteY0" fmla="*/ 392475 h 392475"/>
              <a:gd name="connsiteX1" fmla="*/ 138324 w 138323"/>
              <a:gd name="connsiteY1" fmla="*/ 0 h 392475"/>
              <a:gd name="connsiteX2" fmla="*/ 129066 w 138323"/>
              <a:gd name="connsiteY2" fmla="*/ 0 h 392475"/>
              <a:gd name="connsiteX3" fmla="*/ 0 w 138323"/>
              <a:gd name="connsiteY3" fmla="*/ 392475 h 392475"/>
              <a:gd name="connsiteX4" fmla="*/ 9367 w 138323"/>
              <a:gd name="connsiteY4" fmla="*/ 392475 h 39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323" h="392475">
                <a:moveTo>
                  <a:pt x="9367" y="392475"/>
                </a:moveTo>
                <a:lnTo>
                  <a:pt x="138324" y="0"/>
                </a:lnTo>
                <a:lnTo>
                  <a:pt x="129066" y="0"/>
                </a:lnTo>
                <a:lnTo>
                  <a:pt x="0" y="392475"/>
                </a:lnTo>
                <a:lnTo>
                  <a:pt x="9367" y="392475"/>
                </a:lnTo>
                <a:close/>
              </a:path>
            </a:pathLst>
          </a:custGeom>
          <a:solidFill>
            <a:srgbClr val="3D3C3C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12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749FA6-814D-0904-270A-07EBD6FE775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23666" y="6336743"/>
            <a:ext cx="519312" cy="17501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DD3D2-AC8F-0C2A-0E3B-51F56F5ED290}"/>
              </a:ext>
            </a:extLst>
          </p:cNvPr>
          <p:cNvSpPr txBox="1">
            <a:spLocks/>
          </p:cNvSpPr>
          <p:nvPr userDrawn="1"/>
        </p:nvSpPr>
        <p:spPr>
          <a:xfrm>
            <a:off x="11714480" y="6387530"/>
            <a:ext cx="257355" cy="145822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900" b="0" i="0" kern="1200">
                <a:solidFill>
                  <a:schemeClr val="bg1">
                    <a:lumMod val="50000"/>
                  </a:schemeClr>
                </a:solidFill>
                <a:latin typeface="TWK Everett" panose="020B0204000000000000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55D76A-9B6E-CD41-ABBE-F6C938295BAD}" type="slidenum">
              <a:rPr lang="en-GB" noProof="0" smtClean="0">
                <a:solidFill>
                  <a:schemeClr val="tx1"/>
                </a:solidFill>
              </a:rPr>
              <a:pPr/>
              <a:t>‹#›</a:t>
            </a:fld>
            <a:endParaRPr lang="en-GB" noProof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26C48E-2A01-1264-A464-A8D51E8A4D2A}"/>
              </a:ext>
            </a:extLst>
          </p:cNvPr>
          <p:cNvSpPr txBox="1"/>
          <p:nvPr userDrawn="1"/>
        </p:nvSpPr>
        <p:spPr>
          <a:xfrm>
            <a:off x="9749216" y="6387530"/>
            <a:ext cx="1926811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GB" sz="900" b="0" i="0" noProof="0">
                <a:solidFill>
                  <a:schemeClr val="tx1"/>
                </a:solidFill>
                <a:latin typeface="TWK Everett" panose="020B0204000000000000" pitchFamily="34" charset="77"/>
              </a:rPr>
              <a:t>Kyndryl &amp; WPP Confidential       </a:t>
            </a:r>
            <a:r>
              <a:rPr lang="en-GB" sz="1050" b="0" i="0" noProof="0">
                <a:solidFill>
                  <a:srgbClr val="FF462D"/>
                </a:solidFill>
                <a:latin typeface="TWK Everett" panose="020B0204000000000000" pitchFamily="34" charset="77"/>
              </a:rPr>
              <a:t>|</a:t>
            </a:r>
            <a:r>
              <a:rPr lang="en-GB" sz="900" b="0" i="0" noProof="0">
                <a:solidFill>
                  <a:srgbClr val="FF462D"/>
                </a:solidFill>
                <a:latin typeface="TWK Everett" panose="020B0204000000000000" pitchFamily="34" charset="77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56150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hort Title cloud with red slim trellis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1596171"/>
            <a:ext cx="5862320" cy="25526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FF462D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C974797-F8F6-2E47-988B-FF5AFC751F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3D3C3C"/>
                </a:solidFill>
                <a:latin typeface="Arial" panose="020B060402020202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80A485-3231-0F43-86FC-1F3036CE0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4974" y="5151120"/>
            <a:ext cx="5638313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3D3C3C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EFC5E5-B593-5C6D-1C35-2216FEFAA8BF}"/>
              </a:ext>
            </a:extLst>
          </p:cNvPr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2926" y="-9814"/>
            <a:ext cx="4227443" cy="68810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F7A825-5B74-B1AD-2102-445B1201DF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359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pruce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733665-B5FA-4BFE-A8A0-860EAB727A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139324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7C94A8-5005-5268-2AF8-F2AE71C69F4C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09137" y="-6536"/>
            <a:ext cx="4782863" cy="68645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7287DB1-0A3C-3279-F51E-84F912777A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696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Dark Stone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C402DA3-C165-49D0-AFF1-BE1A3104A85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139324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EC1E95-6239-53A3-732A-02A9068D0F4D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09137" y="-6536"/>
            <a:ext cx="4782863" cy="68645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58FA21-D51B-D772-0838-48EE8650DB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383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Digital Dark Earth">
    <p:bg>
      <p:bgPr>
        <a:solidFill>
          <a:srgbClr val="565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318370-B4B9-460A-B95E-D130A6939B5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139324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31BFE6-FC6B-4852-1256-CA06F4A8B78C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09137" y="-6536"/>
            <a:ext cx="4782863" cy="68645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F6B61B-801A-7540-5B03-3ABCE87DCF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200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pring Green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318370-B4B9-460A-B95E-D130A6939B5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139324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rgbClr val="FF462D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2D8CA5-4238-AD4E-87C0-C2F89894E1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2528"/>
          <a:stretch/>
        </p:blipFill>
        <p:spPr>
          <a:xfrm>
            <a:off x="6240464" y="0"/>
            <a:ext cx="5951536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F58A63-2047-9F53-21EB-7BD6469480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147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546512-28CF-D240-B81F-9ACB8CB1A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740"/>
            <a:ext cx="11734800" cy="5145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6130B2-56B0-7F46-8400-1E3680E9A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694180"/>
            <a:ext cx="11506200" cy="365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marL="693738" lvl="2" indent="-2365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0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3B5C29C-C4AF-DD48-AE8A-5B7CB4F103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27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7" r:id="rId2"/>
    <p:sldLayoutId id="2147483804" r:id="rId3"/>
    <p:sldLayoutId id="2147483930" r:id="rId4"/>
    <p:sldLayoutId id="2147483929" r:id="rId5"/>
    <p:sldLayoutId id="2147483891" r:id="rId6"/>
    <p:sldLayoutId id="2147483890" r:id="rId7"/>
    <p:sldLayoutId id="2147483892" r:id="rId8"/>
    <p:sldLayoutId id="2147483906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b="0" i="0" kern="1200">
          <a:solidFill>
            <a:schemeClr val="tx2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85750" indent="-285750" algn="l" defTabSz="914400" rtl="0" eaLnBrk="1" latinLnBrk="0" hangingPunct="1">
        <a:lnSpc>
          <a:spcPct val="100000"/>
        </a:lnSpc>
        <a:spcBef>
          <a:spcPts val="1000"/>
        </a:spcBef>
        <a:buClr>
          <a:schemeClr val="tx2"/>
        </a:buClr>
        <a:buFont typeface="System Font Regular"/>
        <a:buChar char="–"/>
        <a:defRPr sz="1400" b="0" i="0" kern="1200">
          <a:solidFill>
            <a:schemeClr val="tx2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514350" indent="-225425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3D3C3C"/>
        </a:buClr>
        <a:buSzPct val="90000"/>
        <a:buFont typeface="Courier New" panose="02070309020205020404" pitchFamily="49" charset="0"/>
        <a:buNone/>
        <a:tabLst/>
        <a:defRPr sz="1400" b="0" i="0" kern="1200">
          <a:solidFill>
            <a:schemeClr val="tx2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1030288" indent="-288925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System Font Regular"/>
        <a:buChar char="–"/>
        <a:tabLst/>
        <a:defRPr sz="1400" b="0" i="0" kern="1200">
          <a:solidFill>
            <a:schemeClr val="tx2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1257300" indent="-214313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5" pos="3696" userDrawn="1">
          <p15:clr>
            <a:srgbClr val="F26B43"/>
          </p15:clr>
        </p15:guide>
        <p15:guide id="26" pos="3840" userDrawn="1">
          <p15:clr>
            <a:srgbClr val="F26B43"/>
          </p15:clr>
        </p15:guide>
        <p15:guide id="27" pos="2880" userDrawn="1">
          <p15:clr>
            <a:srgbClr val="F26B43"/>
          </p15:clr>
        </p15:guide>
        <p15:guide id="28" pos="3984" userDrawn="1">
          <p15:clr>
            <a:srgbClr val="F26B43"/>
          </p15:clr>
        </p15:guide>
        <p15:guide id="29" pos="4800" userDrawn="1">
          <p15:clr>
            <a:srgbClr val="F26B43"/>
          </p15:clr>
        </p15:guide>
        <p15:guide id="30" pos="5616" userDrawn="1">
          <p15:clr>
            <a:srgbClr val="F26B43"/>
          </p15:clr>
        </p15:guide>
        <p15:guide id="31" pos="2064" userDrawn="1">
          <p15:clr>
            <a:srgbClr val="F26B43"/>
          </p15:clr>
        </p15:guide>
        <p15:guide id="32" pos="1920" userDrawn="1">
          <p15:clr>
            <a:srgbClr val="F26B43"/>
          </p15:clr>
        </p15:guide>
        <p15:guide id="33" pos="1776" userDrawn="1">
          <p15:clr>
            <a:srgbClr val="F26B43"/>
          </p15:clr>
        </p15:guide>
        <p15:guide id="34" pos="144" userDrawn="1">
          <p15:clr>
            <a:srgbClr val="F26B43"/>
          </p15:clr>
        </p15:guide>
        <p15:guide id="35" pos="5904" userDrawn="1">
          <p15:clr>
            <a:srgbClr val="F26B43"/>
          </p15:clr>
        </p15:guide>
        <p15:guide id="36" orient="horz" pos="216" userDrawn="1">
          <p15:clr>
            <a:srgbClr val="F26B43"/>
          </p15:clr>
        </p15:guide>
        <p15:guide id="37" orient="horz" pos="4104" userDrawn="1">
          <p15:clr>
            <a:srgbClr val="F26B43"/>
          </p15:clr>
        </p15:guide>
        <p15:guide id="38" pos="960" userDrawn="1">
          <p15:clr>
            <a:srgbClr val="F26B43"/>
          </p15:clr>
        </p15:guide>
        <p15:guide id="39" pos="5760" userDrawn="1">
          <p15:clr>
            <a:srgbClr val="F26B43"/>
          </p15:clr>
        </p15:guide>
        <p15:guide id="40" orient="horz" pos="552" userDrawn="1">
          <p15:clr>
            <a:srgbClr val="F26B43"/>
          </p15:clr>
        </p15:guide>
        <p15:guide id="41" orient="horz" pos="3792" userDrawn="1">
          <p15:clr>
            <a:srgbClr val="F26B43"/>
          </p15:clr>
        </p15:guide>
        <p15:guide id="42" orient="horz" pos="2160" userDrawn="1">
          <p15:clr>
            <a:srgbClr val="F26B43"/>
          </p15:clr>
        </p15:guide>
        <p15:guide id="44" orient="horz" pos="1080" userDrawn="1">
          <p15:clr>
            <a:srgbClr val="F26B43"/>
          </p15:clr>
        </p15:guide>
        <p15:guide id="45" orient="horz" pos="2688" userDrawn="1">
          <p15:clr>
            <a:srgbClr val="F26B43"/>
          </p15:clr>
        </p15:guide>
        <p15:guide id="47" orient="horz" pos="3264" userDrawn="1">
          <p15:clr>
            <a:srgbClr val="F26B43"/>
          </p15:clr>
        </p15:guide>
        <p15:guide id="49" orient="horz" pos="1632" userDrawn="1">
          <p15:clr>
            <a:srgbClr val="F26B43"/>
          </p15:clr>
        </p15:guide>
        <p15:guide id="51" pos="7536" userDrawn="1">
          <p15:clr>
            <a:srgbClr val="F26B43"/>
          </p15:clr>
        </p15:guide>
        <p15:guide id="52" pos="672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6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01 INDUSTRY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Retail economics are being reset by demand, cost and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The opening move is to show why the market context creates urgency</a:t>
            </a:r>
          </a:p>
        </p:txBody>
      </p:sp>
      <p:pic>
        <p:nvPicPr>
          <p:cNvPr id="7" name="Picture 6" descr="01_industry_sp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16636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23560" y="160020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87079"/>
                </a:solidFill>
                <a:latin typeface="Arial"/>
              </a:rPr>
              <a:t>SO 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965960"/>
            <a:ext cx="5989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Industry research over the past 18 months indicates UK online retail and consumer finance are in a slower-growth, margin-pressured phase where value, credit affordabil...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4709160"/>
            <a:ext cx="1828800" cy="749808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23560" y="4709160"/>
            <a:ext cx="32004" cy="74980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51576" y="4818888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Consumer Demand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51576" y="5093208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Frequency 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16952" y="4709160"/>
            <a:ext cx="1828800" cy="749808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16952" y="4709160"/>
            <a:ext cx="32004" cy="74980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4818888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Data / AI Enablement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5093208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Frequency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10344" y="4709160"/>
            <a:ext cx="1828800" cy="749808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10344" y="4709160"/>
            <a:ext cx="32004" cy="74980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4818888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Omnichannel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5093208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Frequency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6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02 COMPANY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The Very Group Limited has a board agenda that technology must 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Annual-report priorities should frame the conversation before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5257800" cy="621792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2004" cy="6217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709928"/>
            <a:ext cx="5001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Priority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984248"/>
            <a:ext cx="50017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Defend value perception while growing loyalty and basket economics.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77440"/>
            <a:ext cx="5257800" cy="621792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377440"/>
            <a:ext cx="32004" cy="621792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2487168"/>
            <a:ext cx="5001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761488"/>
            <a:ext cx="50017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Create operating leverage from supply-chain, store and digital modernization.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54680"/>
            <a:ext cx="5257800" cy="621792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154680"/>
            <a:ext cx="32004" cy="621792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3264408"/>
            <a:ext cx="5001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Priority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3538728"/>
            <a:ext cx="50017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Protect customer trust while scaling data-led retailing.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31920"/>
            <a:ext cx="5257800" cy="621792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931920"/>
            <a:ext cx="32004" cy="621792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4041648"/>
            <a:ext cx="5001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Priority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" y="4315968"/>
            <a:ext cx="50017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Retail growth is being fought through value, loyalty and omnichannel convenience.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709160"/>
            <a:ext cx="5257800" cy="621792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709160"/>
            <a:ext cx="32004" cy="621792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4818888"/>
            <a:ext cx="5001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Priority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" y="5093208"/>
            <a:ext cx="50017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Supply-chain resilience and stock productivity are becoming margin differentiators.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16459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87079"/>
                </a:solidFill>
                <a:latin typeface="Arial"/>
              </a:rPr>
              <a:t>Company interpretation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057400"/>
            <a:ext cx="5257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The Very Group Limited's board-level tension is whether trusted omnichannel execution can turn consumer Demand into margin expansion faster than retail peers can respo...</a:t>
            </a:r>
          </a:p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Latest revenue signal: £2,125.3m for fiscal year ended June... (FY24 (year to June 2024)).</a:t>
            </a:r>
          </a:p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Use annual-report quotes and investor-relations data as the evidence base for every client-facing claim.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6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03 PEER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Peer economics reveal where performance pressure is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The benchmark turns the discussion into a CFO-relevant value case</a:t>
            </a:r>
          </a:p>
        </p:txBody>
      </p:sp>
      <p:pic>
        <p:nvPicPr>
          <p:cNvPr id="7" name="Picture 6" descr="03_peer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08760"/>
            <a:ext cx="562356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89320" y="16459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87079"/>
                </a:solidFill>
                <a:latin typeface="Arial"/>
              </a:rPr>
              <a:t>Benchmark 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2057400"/>
            <a:ext cx="5349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3D3B3B"/>
                </a:solidFill>
                <a:latin typeface="Arial"/>
              </a:defRPr>
            </a:pPr>
            <a:r>
              <a:t>The Very Group Limited: revenue GBP 2.1B, EBITDA margin 11.8</a:t>
            </a:r>
          </a:p>
          <a:p>
            <a:pPr>
              <a:spcAft>
                <a:spcPts val="500"/>
              </a:spcAft>
              <a:defRPr sz="1120">
                <a:solidFill>
                  <a:srgbClr val="3D3B3B"/>
                </a:solidFill>
                <a:latin typeface="Arial"/>
              </a:defRPr>
            </a:pPr>
            <a:r>
              <a:t>ASOS plc: revenue GBP 2.5B, EBITDA margin -</a:t>
            </a:r>
          </a:p>
          <a:p>
            <a:pPr>
              <a:spcAft>
                <a:spcPts val="500"/>
              </a:spcAft>
              <a:defRPr sz="1120">
                <a:solidFill>
                  <a:srgbClr val="3D3B3B"/>
                </a:solidFill>
                <a:latin typeface="Arial"/>
              </a:defRPr>
            </a:pPr>
            <a:r>
              <a:t>THG plc: revenue GBP 1.7B, EBITDA margin [DATA GAP]</a:t>
            </a:r>
          </a:p>
          <a:p>
            <a:pPr>
              <a:spcAft>
                <a:spcPts val="500"/>
              </a:spcAft>
              <a:defRPr sz="1120">
                <a:solidFill>
                  <a:srgbClr val="3D3B3B"/>
                </a:solidFill>
                <a:latin typeface="Arial"/>
              </a:defRPr>
            </a:pPr>
            <a:r>
              <a:t>AO World plc: revenue GBP 1.3B, EBITDA margin 4.0</a:t>
            </a:r>
          </a:p>
          <a:p>
            <a:pPr>
              <a:spcAft>
                <a:spcPts val="500"/>
              </a:spcAft>
              <a:defRPr sz="1120">
                <a:solidFill>
                  <a:srgbClr val="3D3B3B"/>
                </a:solidFill>
                <a:latin typeface="Arial"/>
              </a:defRPr>
            </a:pPr>
            <a:r>
              <a:t>N Brown Group plc: revenue GBP 600.9M, EBITDA margin [DATA GAP]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6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04 TECHNOLOGY LINK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The financial trend points to specific technology levers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Revenue, cost and risk should each have a quantified hypothesis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1645920" cy="96012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08760"/>
            <a:ext cx="32004" cy="9601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618488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892808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£2,125.3m for fiscal year ended June...</a:t>
            </a:r>
            <a:br/>
            <a:r>
              <a:rPr sz="869" b="0">
                <a:solidFill>
                  <a:srgbClr val="3D3B3B"/>
                </a:solidFill>
                <a:latin typeface="Arial"/>
              </a:rPr>
              <a:t>Test digital growth, conversion, retention and pricing use cases.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79" y="1508760"/>
            <a:ext cx="1645920" cy="96012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8879" y="1508760"/>
            <a:ext cx="32004" cy="960120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96895" y="1618488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Operating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5" y="1892808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[DATA GAP]</a:t>
            </a:r>
            <a:br/>
            <a:r>
              <a:rPr sz="869" b="0">
                <a:solidFill>
                  <a:srgbClr val="3D3B3B"/>
                </a:solidFill>
                <a:latin typeface="Arial"/>
              </a:rPr>
              <a:t>Target automation, cloud economics and operating-model simplification.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508760"/>
            <a:ext cx="1645920" cy="96012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508760"/>
            <a:ext cx="32004" cy="960120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1416" y="1618488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1892808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[DATA GAP]</a:t>
            </a:r>
            <a:br/>
            <a:r>
              <a:rPr sz="869" b="0">
                <a:solidFill>
                  <a:srgbClr val="3D3B3B"/>
                </a:solidFill>
                <a:latin typeface="Arial"/>
              </a:rPr>
              <a:t>Prioritise AI use cases that create scalable growth rather than isolated pilots.</a:t>
            </a:r>
          </a:p>
        </p:txBody>
      </p:sp>
      <p:pic>
        <p:nvPicPr>
          <p:cNvPr id="19" name="Picture 18" descr="04_technology_signals_sp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97480"/>
            <a:ext cx="5440680" cy="32461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55080" y="169164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87079"/>
                </a:solidFill>
                <a:latin typeface="Arial"/>
              </a:rPr>
              <a:t>Technology implications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084831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Qualify high-value AI use cases, data readiness, governance gaps and measurable business outcomes before platform investment. Evidence signal: Protect customer trust w...</a:t>
            </a:r>
          </a:p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Quantify run cost, resilience, technical debt and migration economics with the CIO, CTO and CFO.</a:t>
            </a:r>
          </a:p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Identify workflow, application and operating-model simplification candidates tied to productivity or service speed. Evidence signal: Create operating leverage from sup...</a:t>
            </a:r>
          </a:p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Connect board-level risk, critical services, identity and resilience evidence to funded control improvement. Evidence signal: Protect customer trust while scaling data...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6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05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The account should lead with focused executive choices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Each recommendation needs an owner, evidence and next 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5394960" cy="621792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32004" cy="621792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709928"/>
            <a:ext cx="5138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AI value discovery and data readiness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984248"/>
            <a:ext cx="5138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Qualify high-value AI use cases, data readiness, governance gaps and measurable business outcomes before platform investment. Evidence signal: Protect customer trust while scaling data-le...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377440"/>
            <a:ext cx="5394960" cy="621792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377440"/>
            <a:ext cx="32004" cy="621792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2487168"/>
            <a:ext cx="5138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Cloud economics and modernisation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761488"/>
            <a:ext cx="5138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Quantify run cost, resilience, technical debt and migration economics with the CIO, CTO and CFO.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154680"/>
            <a:ext cx="5394960" cy="621792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154680"/>
            <a:ext cx="32004" cy="621792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3264408"/>
            <a:ext cx="5138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Process automation and platform rationalisation workshop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3538728"/>
            <a:ext cx="5138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Identify workflow, application and operating-model simplification candidates tied to productivity or service speed. Evidence signal: Create operating leverage from supply-chain, store and...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931920"/>
            <a:ext cx="5394960" cy="621792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931920"/>
            <a:ext cx="32004" cy="621792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4041648"/>
            <a:ext cx="5138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Resilience, identity and cyber risk 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4315968"/>
            <a:ext cx="5138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Connect board-level risk, critical services, identity and resilience evidence to funded control improvement. Evidence signal: Protect customer trust while scaling data-led retailing..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709160"/>
            <a:ext cx="5394960" cy="621792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4709160"/>
            <a:ext cx="32004" cy="621792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4818888"/>
            <a:ext cx="5138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Customer journey and digital adoption workshop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5093208"/>
            <a:ext cx="5138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Map revenue, retention and service-friction opportunities across the highest-value customer journeys. Evidence signal: Defend value perception while growing loyalty and basket economics..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169164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87079"/>
                </a:solidFill>
                <a:latin typeface="Arial"/>
              </a:rPr>
              <a:t>Recommended C-suite engagement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084831"/>
            <a:ext cx="4480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CEO: link transformation to growth choices and customer trust.</a:t>
            </a:r>
          </a:p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CFO: quantify EBITDA, cash and risk-protection logic before solutioning.</a:t>
            </a:r>
          </a:p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CIO/COO: agree the data, platform and delivery constraints that determine pace.</a:t>
            </a:r>
          </a:p>
          <a:p>
            <a:pPr>
              <a:spcAft>
                <a:spcPts val="500"/>
              </a:spcAft>
              <a:defRPr sz="1200">
                <a:solidFill>
                  <a:srgbClr val="3D3B3B"/>
                </a:solidFill>
                <a:latin typeface="Arial"/>
              </a:defRPr>
            </a:pPr>
            <a:r>
              <a:t>First ask: approve a focused value discovery sprint using the evidence base.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6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06 AI BUSINESS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AI value should be framed as EBITDA movement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The portfolio must show cost, revenue and risk contribution</a:t>
            </a:r>
          </a:p>
        </p:txBody>
      </p:sp>
      <p:pic>
        <p:nvPicPr>
          <p:cNvPr id="7" name="Picture 6" descr="06_value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08760"/>
            <a:ext cx="5715000" cy="4343400"/>
          </a:xfrm>
          <a:prstGeom prst="rect">
            <a:avLst/>
          </a:prstGeom>
        </p:spPr>
      </p:pic>
      <p:pic>
        <p:nvPicPr>
          <p:cNvPr id="8" name="Picture 7" descr="06_ai_portfolio_bub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08760"/>
            <a:ext cx="525780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55080" y="498348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87079"/>
                </a:solidFill>
                <a:latin typeface="Arial"/>
              </a:rPr>
              <a:t>Business case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5321808"/>
            <a:ext cx="4983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880">
                <a:solidFill>
                  <a:srgbClr val="3D3B3B"/>
                </a:solidFill>
                <a:latin typeface="Arial"/>
              </a:defRPr>
            </a:pPr>
            <a:r>
              <a:t>Use the waterfall as a directional value hypothesis until validated with customer baselines.</a:t>
            </a:r>
          </a:p>
          <a:p>
            <a:pPr>
              <a:spcAft>
                <a:spcPts val="500"/>
              </a:spcAft>
              <a:defRPr sz="880">
                <a:solidFill>
                  <a:srgbClr val="3D3B3B"/>
                </a:solidFill>
                <a:latin typeface="Arial"/>
              </a:defRPr>
            </a:pPr>
            <a:r>
              <a:t>Prioritise use cases that connect to the stored ETS sales angles and peer productivity gaps.</a:t>
            </a:r>
          </a:p>
          <a:p>
            <a:pPr>
              <a:spcAft>
                <a:spcPts val="500"/>
              </a:spcAft>
              <a:defRPr sz="880">
                <a:solidFill>
                  <a:srgbClr val="3D3B3B"/>
                </a:solidFill>
                <a:latin typeface="Arial"/>
              </a:defRPr>
            </a:pPr>
            <a:r>
              <a:t>Separate EBITDA uplift from EBITDA protected so risk benefits are not double counted.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6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07 AI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The roadmap should prove value before scaling ambition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Start narrow, validate economics, then industrialise the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3246120" cy="246888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05740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462D"/>
                </a:solidFill>
                <a:latin typeface="Arial"/>
              </a:rPr>
              <a:t>0-90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423160"/>
            <a:ext cx="2880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002313"/>
                </a:solidFill>
                <a:latin typeface="Arial"/>
              </a:rPr>
              <a:t>Prove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880360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D3B3B"/>
                </a:solidFill>
                <a:latin typeface="Arial"/>
              </a:rPr>
              <a:t>Value discovery, data readiness, executive value case and two pilots.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79476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850">
                <a:solidFill>
                  <a:srgbClr val="3D3B3B"/>
                </a:solidFill>
                <a:latin typeface="Arial"/>
              </a:defRPr>
            </a:pPr>
            <a:r>
              <a:t>AI value discovery and data readiness assessment</a:t>
            </a:r>
          </a:p>
          <a:p>
            <a:pPr>
              <a:spcAft>
                <a:spcPts val="500"/>
              </a:spcAft>
              <a:defRPr sz="850">
                <a:solidFill>
                  <a:srgbClr val="3D3B3B"/>
                </a:solidFill>
                <a:latin typeface="Arial"/>
              </a:defRPr>
            </a:pPr>
            <a:r>
              <a:t>Cloud economics and modernisation assessment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874519"/>
            <a:ext cx="3246120" cy="246888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205740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462D"/>
                </a:solidFill>
                <a:latin typeface="Arial"/>
              </a:rPr>
              <a:t>3-12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423160"/>
            <a:ext cx="2880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002313"/>
                </a:solidFill>
                <a:latin typeface="Arial"/>
              </a:rPr>
              <a:t>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880360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D3B3B"/>
                </a:solidFill>
                <a:latin typeface="Arial"/>
              </a:rPr>
              <a:t>Industrialise the highest-confidence use cases and align platform guardrails.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379476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850">
                <a:solidFill>
                  <a:srgbClr val="3D3B3B"/>
                </a:solidFill>
                <a:latin typeface="Arial"/>
              </a:defRPr>
            </a:pPr>
            <a:r>
              <a:t>Process automation and platform rationalisation workshop</a:t>
            </a:r>
          </a:p>
          <a:p>
            <a:pPr>
              <a:spcAft>
                <a:spcPts val="500"/>
              </a:spcAft>
              <a:defRPr sz="850">
                <a:solidFill>
                  <a:srgbClr val="3D3B3B"/>
                </a:solidFill>
                <a:latin typeface="Arial"/>
              </a:defRPr>
            </a:pPr>
            <a:r>
              <a:t>Resilience, identity and cyber risk assessment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874519"/>
            <a:ext cx="3246120" cy="246888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205740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462D"/>
                </a:solidFill>
                <a:latin typeface="Arial"/>
              </a:rPr>
              <a:t>12-24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2423160"/>
            <a:ext cx="2880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002313"/>
                </a:solidFill>
                <a:latin typeface="Arial"/>
              </a:rPr>
              <a:t>Transform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2880360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D3B3B"/>
                </a:solidFill>
                <a:latin typeface="Arial"/>
              </a:rPr>
              <a:t>Extend AI into operating-model, customer and risk workflows with benefit tracking.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379476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850">
                <a:solidFill>
                  <a:srgbClr val="3D3B3B"/>
                </a:solidFill>
                <a:latin typeface="Arial"/>
              </a:defRPr>
            </a:pPr>
            <a:r>
              <a:t>Customer journey and digital adoption workshop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yndryl Template">
  <a:themeElements>
    <a:clrScheme name="Kyndryl 20220421">
      <a:dk1>
        <a:srgbClr val="002313"/>
      </a:dk1>
      <a:lt1>
        <a:srgbClr val="FFFFFF"/>
      </a:lt1>
      <a:dk2>
        <a:srgbClr val="3D3B3B"/>
      </a:dk2>
      <a:lt2>
        <a:srgbClr val="F2F0ED"/>
      </a:lt2>
      <a:accent1>
        <a:srgbClr val="FF462D"/>
      </a:accent1>
      <a:accent2>
        <a:srgbClr val="E4F4F1"/>
      </a:accent2>
      <a:accent3>
        <a:srgbClr val="4CDD84"/>
      </a:accent3>
      <a:accent4>
        <a:srgbClr val="287079"/>
      </a:accent4>
      <a:accent5>
        <a:srgbClr val="9E9287"/>
      </a:accent5>
      <a:accent6>
        <a:srgbClr val="187E3E"/>
      </a:accent6>
      <a:hlink>
        <a:srgbClr val="FF462D"/>
      </a:hlink>
      <a:folHlink>
        <a:srgbClr val="4CDD84"/>
      </a:folHlink>
    </a:clrScheme>
    <a:fontScheme name="K">
      <a:majorFont>
        <a:latin typeface="TWK Everett"/>
        <a:ea typeface=""/>
        <a:cs typeface=""/>
      </a:majorFont>
      <a:minorFont>
        <a:latin typeface="TWK Evere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l">
          <a:defRPr sz="1400" dirty="0">
            <a:solidFill>
              <a:schemeClr val="bg1"/>
            </a:solidFill>
            <a:latin typeface="Arial" panose="020B0604020202020204" pitchFamily="34" charset="0"/>
          </a:defRPr>
        </a:defPPr>
      </a:lstStyle>
    </a:txDef>
  </a:objectDefaults>
  <a:extraClrSchemeLst/>
  <a:custClrLst>
    <a:custClr name="White">
      <a:srgbClr val="FFFFFF"/>
    </a:custClr>
    <a:custClr name="Cloud">
      <a:srgbClr val="F2F1EE"/>
    </a:custClr>
    <a:custClr name="Spruce">
      <a:srgbClr val="29707A"/>
    </a:custClr>
    <a:custClr name="Deep Forest">
      <a:srgbClr val="042315"/>
    </a:custClr>
    <a:custClr name="Warm Red">
      <a:srgbClr val="FF462D"/>
    </a:custClr>
    <a:custClr name="Skye">
      <a:srgbClr val="E4F4F1"/>
    </a:custClr>
    <a:custClr name="Spring Green">
      <a:srgbClr val="4CDD84"/>
    </a:custClr>
    <a:custClr name="Earth">
      <a:srgbClr val="9E9287"/>
    </a:custClr>
    <a:custClr name="Dark Stone">
      <a:srgbClr val="3D3C3C"/>
    </a:custClr>
    <a:custClr name="Digital Dark Spring Green">
      <a:srgbClr val="187E3F"/>
    </a:custClr>
    <a:custClr name="Digital Dark Earth">
      <a:srgbClr val="565049"/>
    </a:custClr>
  </a:custClrLst>
  <a:extLst>
    <a:ext uri="{05A4C25C-085E-4340-85A3-A5531E510DB2}">
      <thm15:themeFamily xmlns:thm15="http://schemas.microsoft.com/office/thememl/2012/main" name="Kyndryl_Powerpoint_Template_Arial-R-2023" id="{75EDCFFB-6980-084F-B88F-EDD637D81512}" vid="{0890FAE9-6EFD-964E-A8A2-A8EBF01A6F8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C345221EFAF845996C55E0D7DE9CA7" ma:contentTypeVersion="17" ma:contentTypeDescription="Create a new document." ma:contentTypeScope="" ma:versionID="c6b62dfef881b160d450fabaeedf0dbe">
  <xsd:schema xmlns:xsd="http://www.w3.org/2001/XMLSchema" xmlns:xs="http://www.w3.org/2001/XMLSchema" xmlns:p="http://schemas.microsoft.com/office/2006/metadata/properties" xmlns:ns1="http://schemas.microsoft.com/sharepoint/v3" xmlns:ns2="85555057-9427-4813-aac4-6a9ec9c58081" xmlns:ns3="051e7001-57b8-4f1f-801f-48a10e6f1e80" targetNamespace="http://schemas.microsoft.com/office/2006/metadata/properties" ma:root="true" ma:fieldsID="eff046307dee3171a396a1c40657e705" ns1:_="" ns2:_="" ns3:_="">
    <xsd:import namespace="http://schemas.microsoft.com/sharepoint/v3"/>
    <xsd:import namespace="85555057-9427-4813-aac4-6a9ec9c58081"/>
    <xsd:import namespace="051e7001-57b8-4f1f-801f-48a10e6f1e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555057-9427-4813-aac4-6a9ec9c580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4101172-0cdf-4a4d-852d-90099e45c5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1e7001-57b8-4f1f-801f-48a10e6f1e80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d81f65a-e821-45cc-9611-ac264729490b}" ma:internalName="TaxCatchAll" ma:showField="CatchAllData" ma:web="051e7001-57b8-4f1f-801f-48a10e6f1e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LengthInSeconds xmlns="85555057-9427-4813-aac4-6a9ec9c58081" xsi:nil="true"/>
    <lcf76f155ced4ddcb4097134ff3c332f xmlns="85555057-9427-4813-aac4-6a9ec9c58081">
      <Terms xmlns="http://schemas.microsoft.com/office/infopath/2007/PartnerControls"/>
    </lcf76f155ced4ddcb4097134ff3c332f>
    <TaxCatchAll xmlns="051e7001-57b8-4f1f-801f-48a10e6f1e80" xsi:nil="true"/>
  </documentManagement>
</p:properties>
</file>

<file path=customXml/itemProps1.xml><?xml version="1.0" encoding="utf-8"?>
<ds:datastoreItem xmlns:ds="http://schemas.openxmlformats.org/officeDocument/2006/customXml" ds:itemID="{6A8FC10D-DCE8-4931-86F4-9CA9A18D0136}">
  <ds:schemaRefs>
    <ds:schemaRef ds:uri="051e7001-57b8-4f1f-801f-48a10e6f1e80"/>
    <ds:schemaRef ds:uri="85555057-9427-4813-aac4-6a9ec9c5808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D1F5DE1-AF70-41E9-A02F-B159F3CD5C6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C8E937-4CF1-428D-AE9A-6FF7182CED01}">
  <ds:schemaRefs>
    <ds:schemaRef ds:uri="http://purl.org/dc/elements/1.1/"/>
    <ds:schemaRef ds:uri="http://purl.org/dc/dcmitype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051e7001-57b8-4f1f-801f-48a10e6f1e80"/>
    <ds:schemaRef ds:uri="http://schemas.microsoft.com/office/2006/documentManagement/types"/>
    <ds:schemaRef ds:uri="85555057-9427-4813-aac4-6a9ec9c58081"/>
    <ds:schemaRef ds:uri="http://schemas.microsoft.com/sharepoint/v3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316fec92-2610-4452-9629-40ff25e54e47}" enabled="1" method="Standard" siteId="{f260df36-bc43-424c-8f44-c85226657b0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Kyndryl_Powerpoint_Template_Arial-R-2023</Template>
  <TotalTime>73</TotalTime>
  <Words>638</Words>
  <Application>Microsoft Office PowerPoint</Application>
  <PresentationFormat>Widescreen</PresentationFormat>
  <Paragraphs>105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Courier New</vt:lpstr>
      <vt:lpstr>System Font Regular</vt:lpstr>
      <vt:lpstr>TWK Everett</vt:lpstr>
      <vt:lpstr>TWK Everett Black</vt:lpstr>
      <vt:lpstr>TWK Everett Light</vt:lpstr>
      <vt:lpstr>TWK Everett Medium</vt:lpstr>
      <vt:lpstr>Kyndryl Template</vt:lpstr>
      <vt:lpstr>PowerPoint Presentation</vt:lpstr>
      <vt:lpstr>The Industry Is Shifting Towards XYZ Trends</vt:lpstr>
      <vt:lpstr>To Address These Company Trends, Company Is Driving The Following Priorities</vt:lpstr>
      <vt:lpstr>Transfo</vt:lpstr>
      <vt:lpstr>Three structural constraints prevent estate data from supporting transformation decisions at enterprise scale</vt:lpstr>
      <vt:lpstr>No trusted enterprise application portfolio currently exists for WPP across all OpCo’s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Alex Yim</dc:creator>
  <cp:keywords/>
  <dc:description/>
  <cp:lastModifiedBy>Muneeb Ahsan</cp:lastModifiedBy>
  <cp:revision>2</cp:revision>
  <cp:lastPrinted>2026-05-30T19:43:57Z</cp:lastPrinted>
  <dcterms:created xsi:type="dcterms:W3CDTF">2026-04-14T10:15:43Z</dcterms:created>
  <dcterms:modified xsi:type="dcterms:W3CDTF">2026-08-03T12:13:01Z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lpwstr>177800.000000000</vt:lpwstr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lpwstr/>
  </property>
  <property fmtid="{D5CDD505-2E9C-101B-9397-08002B2CF9AE}" pid="10" name="ClassificationContentMarkingFooterLocations">
    <vt:lpwstr>Kyndryl Template:5</vt:lpwstr>
  </property>
  <property fmtid="{D5CDD505-2E9C-101B-9397-08002B2CF9AE}" pid="11" name="ClassificationContentMarkingFooterText">
    <vt:lpwstr>Kyndryl Confidential</vt:lpwstr>
  </property>
  <property fmtid="{D5CDD505-2E9C-101B-9397-08002B2CF9AE}" pid="12" name="ContentTypeId">
    <vt:lpwstr>0x01010033C345221EFAF845996C55E0D7DE9CA7</vt:lpwstr>
  </property>
</Properties>
</file>