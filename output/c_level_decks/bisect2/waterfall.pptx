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WATERFALL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63192"/>
            <a:ext cx="1005840" cy="244215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962024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GBP 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48056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1">
                <a:solidFill>
                  <a:srgbClr val="002313"/>
                </a:solidFill>
                <a:latin typeface="Arial"/>
              </a:rPr>
              <a:t>AI value discovery and data readiness a...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63040.0" y="4163192.8615384614"/>
            <a:ext cx="73152.0" cy="0.0"/>
          </a:xfrm>
          <a:prstGeom prst="line">
            <a:avLst/>
          </a:prstGeom>
          <a:ln>
            <a:solidFill>
              <a:srgbClr val="9E92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536192" y="3814314"/>
            <a:ext cx="1005840" cy="348878"/>
          </a:xfrm>
          <a:prstGeom prst="rect">
            <a:avLst/>
          </a:prstGeom>
          <a:solidFill>
            <a:srgbClr val="3F7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36192" y="361314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GBP 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48056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1">
                <a:solidFill>
                  <a:srgbClr val="002313"/>
                </a:solidFill>
                <a:latin typeface="Arial"/>
              </a:rPr>
              <a:t>Cloud economics and modernisation asses...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42032.0" y="3814314.0923076924"/>
            <a:ext cx="73152.0" cy="0.0"/>
          </a:xfrm>
          <a:prstGeom prst="line">
            <a:avLst/>
          </a:prstGeom>
          <a:ln>
            <a:solidFill>
              <a:srgbClr val="9E92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615184" y="3360771"/>
            <a:ext cx="1005840" cy="453542"/>
          </a:xfrm>
          <a:prstGeom prst="rect">
            <a:avLst/>
          </a:prstGeom>
          <a:solidFill>
            <a:srgbClr val="3F7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5184" y="3159603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GBP 6M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448056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1">
                <a:solidFill>
                  <a:srgbClr val="002313"/>
                </a:solidFill>
                <a:latin typeface="Arial"/>
              </a:rPr>
              <a:t>Process automation and platform rationa...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21024.0" y="3360771.692307692"/>
            <a:ext cx="73152.0" cy="0.0"/>
          </a:xfrm>
          <a:prstGeom prst="line">
            <a:avLst/>
          </a:prstGeom>
          <a:ln>
            <a:solidFill>
              <a:srgbClr val="9E92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694176" y="2802565"/>
            <a:ext cx="1005840" cy="558206"/>
          </a:xfrm>
          <a:prstGeom prst="rect">
            <a:avLst/>
          </a:prstGeom>
          <a:solidFill>
            <a:srgbClr val="497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4176" y="2601397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GBP 8M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1024" y="448056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1">
                <a:solidFill>
                  <a:srgbClr val="002313"/>
                </a:solidFill>
                <a:latin typeface="Arial"/>
              </a:rPr>
              <a:t>Resilience, identity and cyber risk ass...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00016.0" y="2802565.661538461"/>
            <a:ext cx="73152.0" cy="0.0"/>
          </a:xfrm>
          <a:prstGeom prst="line">
            <a:avLst/>
          </a:prstGeom>
          <a:ln>
            <a:solidFill>
              <a:srgbClr val="9E92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773168" y="2139696"/>
            <a:ext cx="1005840" cy="662869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193852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GBP 10M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0016" y="448056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1">
                <a:solidFill>
                  <a:srgbClr val="002313"/>
                </a:solidFill>
                <a:latin typeface="Arial"/>
              </a:rPr>
              <a:t>Customer journey and digital adoption w...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2139696"/>
            <a:ext cx="1005840" cy="2267712"/>
          </a:xfrm>
          <a:prstGeom prst="rect">
            <a:avLst/>
          </a:prstGeom>
          <a:solidFill>
            <a:srgbClr val="0023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0" y="193852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GBP 32M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9008" y="4480560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Potential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