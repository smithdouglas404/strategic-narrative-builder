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1</a:t>
            </a:r>
          </a:p>
        </p:txBody>
      </p:sp>
      <p:sp>
        <p:nvSpPr>
          <p:cNvPr id="10" name="Regular Pentagon 9"/>
          <p:cNvSpPr/>
          <p:nvPr/>
        </p:nvSpPr>
        <p:spPr>
          <a:xfrm rot="1080000">
            <a:off x="2332817" y="3018617"/>
            <a:ext cx="820765" cy="820765"/>
          </a:xfrm>
          <a:prstGeom prst="pentagon">
            <a:avLst/>
          </a:prstGeom>
          <a:noFill/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gular Pentagon 10"/>
          <p:cNvSpPr/>
          <p:nvPr/>
        </p:nvSpPr>
        <p:spPr>
          <a:xfrm rot="1080000">
            <a:off x="1922434" y="2608234"/>
            <a:ext cx="1641530" cy="1641530"/>
          </a:xfrm>
          <a:prstGeom prst="pentagon">
            <a:avLst/>
          </a:prstGeom>
          <a:noFill/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gular Pentagon 11"/>
          <p:cNvSpPr/>
          <p:nvPr/>
        </p:nvSpPr>
        <p:spPr>
          <a:xfrm rot="1080000">
            <a:off x="1499616" y="2185416"/>
            <a:ext cx="2487168" cy="2487168"/>
          </a:xfrm>
          <a:prstGeom prst="pentagon">
            <a:avLst/>
          </a:prstGeom>
          <a:noFill/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2743200.0" y="2185416.0"/>
            <a:ext cx="0.0" cy="1243584.0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40280" y="1851842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Consumer Demand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2743200.0" y="2653638.0582453087"/>
            <a:ext cx="972273.1222935226" cy="775361.9417546913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87562" y="2404344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Margin &amp; Cost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43200.0" y="3429000.0"/>
            <a:ext cx="1212404.7527427208" cy="276723.47313312907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70917" y="3645805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Pricing &amp; Category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43200.0" y="3429000.0"/>
            <a:ext cx="539570.8758267695" cy="1120430.4686215622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876973" y="4641379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Supply &amp; Fulfilment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203629.1241732305" y="3429000.0"/>
            <a:ext cx="539570.8758267695" cy="1120430.4686215622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603586" y="4641379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Loyalty &amp; Brand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530795.247257279" y="3429000.0"/>
            <a:ext cx="1212404.752742721" cy="276723.47313312953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09642" y="3645805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Omnichannel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1770926.8777064774" y="2653638.0582453087"/>
            <a:ext cx="972273.1222935226" cy="775361.9417546913"/>
          </a:xfrm>
          <a:prstGeom prst="line">
            <a:avLst/>
          </a:prstGeom>
          <a:ln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092997" y="2404344"/>
            <a:ext cx="1005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Data / AI Enablement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743200.0" y="2185416.0"/>
            <a:ext cx="972273.1222935226" cy="468222.0582453087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720340" y="2162556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H="1">
            <a:off x="3551469.835161814" y="2653638.0582453087"/>
            <a:ext cx="164003.28713170858" cy="959844.2571767773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692613" y="2630778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H="1">
            <a:off x="3102913.9172178465" y="3613482.315422086"/>
            <a:ext cx="448555.9179439675" cy="562471.3303256221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528609" y="3590622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2473414.5620866152" y="3989215.234310781"/>
            <a:ext cx="629499.3551312312" cy="186738.41143692704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3080053" y="4153093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2136997.6236286396" y="3567361.7365665645"/>
            <a:ext cx="336416.93845797563" cy="421853.4977442166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450554" y="3966355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2136997.6236286396" y="3170546.019415103"/>
            <a:ext cx="282111.335606853" cy="396815.71715146163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114137" y="3544501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2419108.9592354926" y="2185416.0"/>
            <a:ext cx="324091.0407645074" cy="985130.0194151029"/>
          </a:xfrm>
          <a:prstGeom prst="line">
            <a:avLst/>
          </a:prstGeom>
          <a:ln w="13716">
            <a:solidFill>
              <a:srgbClr val="2870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396248" y="3147686"/>
            <a:ext cx="45720" cy="45720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4572000" cy="914400"/>
          </a:xfrm>
          <a:prstGeom prst="rect">
            <a:avLst/>
          </a:prstGeom>
          <a:solidFill>
            <a:srgbClr val="F5F5F5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32004" cy="914400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1664208"/>
            <a:ext cx="43159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2313"/>
                </a:solidFill>
                <a:latin typeface="Arial"/>
              </a:rPr>
              <a:t>card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938528"/>
            <a:ext cx="43159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69" b="0">
                <a:solidFill>
                  <a:srgbClr val="3D3B3B"/>
                </a:solidFill>
                <a:latin typeface="Arial"/>
              </a:rPr>
              <a:t>body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The Very Group Limited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16520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16520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5544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2.1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640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ASOS plc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22616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77440" y="22616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1640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2.5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736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THG plc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28712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77440" y="28712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7736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1.7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832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AO World plc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40" y="34808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77440" y="34808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33832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1.3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9928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N Brown Group plc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40904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77440" y="4090416"/>
            <a:ext cx="27432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9928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600.9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602480"/>
            <a:ext cx="173736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Currys plc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4700016"/>
            <a:ext cx="1920240" cy="109728"/>
          </a:xfrm>
          <a:prstGeom prst="rect">
            <a:avLst/>
          </a:prstGeom>
          <a:solidFill>
            <a:srgbClr val="EDEB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77440" y="4700016"/>
            <a:ext cx="1920240" cy="109728"/>
          </a:xfrm>
          <a:prstGeom prst="rect">
            <a:avLst/>
          </a:prstGeom>
          <a:solidFill>
            <a:srgbClr val="2870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4602480"/>
            <a:ext cx="640080" cy="316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9254000000.0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6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63192"/>
            <a:ext cx="1005840" cy="244215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962024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GBP 4M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48056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70" b="1">
                <a:solidFill>
                  <a:srgbClr val="002313"/>
                </a:solidFill>
                <a:latin typeface="Arial"/>
              </a:rPr>
              <a:t>AI value discovery and data readiness a...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63040.0" y="4163192.8615384614"/>
            <a:ext cx="73152.0" cy="0.0"/>
          </a:xfrm>
          <a:prstGeom prst="line">
            <a:avLst/>
          </a:prstGeom>
          <a:ln>
            <a:solidFill>
              <a:srgbClr val="9E92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536192" y="3814314"/>
            <a:ext cx="1005840" cy="348878"/>
          </a:xfrm>
          <a:prstGeom prst="rect">
            <a:avLst/>
          </a:prstGeom>
          <a:solidFill>
            <a:srgbClr val="3F7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36192" y="3613146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GBP 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48056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70" b="1">
                <a:solidFill>
                  <a:srgbClr val="002313"/>
                </a:solidFill>
                <a:latin typeface="Arial"/>
              </a:rPr>
              <a:t>Cloud economics and modernisation asses...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42032.0" y="3814314.0923076924"/>
            <a:ext cx="73152.0" cy="0.0"/>
          </a:xfrm>
          <a:prstGeom prst="line">
            <a:avLst/>
          </a:prstGeom>
          <a:ln>
            <a:solidFill>
              <a:srgbClr val="9E92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615184" y="3360771"/>
            <a:ext cx="1005840" cy="453542"/>
          </a:xfrm>
          <a:prstGeom prst="rect">
            <a:avLst/>
          </a:prstGeom>
          <a:solidFill>
            <a:srgbClr val="3F7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15184" y="3159603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GBP 6M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448056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70" b="1">
                <a:solidFill>
                  <a:srgbClr val="002313"/>
                </a:solidFill>
                <a:latin typeface="Arial"/>
              </a:rPr>
              <a:t>Process automation and platform rationa...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21024.0" y="3360771.692307692"/>
            <a:ext cx="73152.0" cy="0.0"/>
          </a:xfrm>
          <a:prstGeom prst="line">
            <a:avLst/>
          </a:prstGeom>
          <a:ln>
            <a:solidFill>
              <a:srgbClr val="9E92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694176" y="2802565"/>
            <a:ext cx="1005840" cy="558206"/>
          </a:xfrm>
          <a:prstGeom prst="rect">
            <a:avLst/>
          </a:prstGeom>
          <a:solidFill>
            <a:srgbClr val="497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94176" y="2601397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GBP 8M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21024" y="448056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70" b="1">
                <a:solidFill>
                  <a:srgbClr val="002313"/>
                </a:solidFill>
                <a:latin typeface="Arial"/>
              </a:rPr>
              <a:t>Resilience, identity and cyber risk ass...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700016.0" y="2802565.661538461"/>
            <a:ext cx="73152.0" cy="0.0"/>
          </a:xfrm>
          <a:prstGeom prst="line">
            <a:avLst/>
          </a:prstGeom>
          <a:ln>
            <a:solidFill>
              <a:srgbClr val="9E928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773168" y="2139696"/>
            <a:ext cx="1005840" cy="662869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193852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GBP 10M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0016" y="4480560"/>
            <a:ext cx="115214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70" b="1">
                <a:solidFill>
                  <a:srgbClr val="002313"/>
                </a:solidFill>
                <a:latin typeface="Arial"/>
              </a:rPr>
              <a:t>Customer journey and digital adoption w...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2139696"/>
            <a:ext cx="1005840" cy="2267712"/>
          </a:xfrm>
          <a:prstGeom prst="rect">
            <a:avLst/>
          </a:prstGeom>
          <a:solidFill>
            <a:srgbClr val="0023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60" y="1938528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002313"/>
                </a:solidFill>
                <a:latin typeface="Arial"/>
              </a:rPr>
              <a:t>GBP 32M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79008" y="4480560"/>
            <a:ext cx="1152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80" b="1">
                <a:solidFill>
                  <a:srgbClr val="002313"/>
                </a:solidFill>
                <a:latin typeface="Arial"/>
              </a:rPr>
              <a:t>Potential value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7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The Very Group Limited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